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Revenue by region (USD 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APAC</c:v>
                </c:pt>
              </c:strCache>
            </c:strRef>
          </c:tx>
          <c:spPr>
            <a:ln w="31750">
              <a:solidFill>
                <a:srgbClr val="008878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260.0</c:v>
                </c:pt>
                <c:pt idx="1">
                  <c:v>300.0</c:v>
                </c:pt>
                <c:pt idx="2">
                  <c:v>305.0</c:v>
                </c:pt>
                <c:pt idx="3">
                  <c:v>330.0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ln w="31750">
              <a:solidFill>
                <a:srgbClr val="BF8500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310.0</c:v>
                </c:pt>
                <c:pt idx="1">
                  <c:v>350.0</c:v>
                </c:pt>
                <c:pt idx="2">
                  <c:v>330.0</c:v>
                </c:pt>
                <c:pt idx="3">
                  <c:v>345.0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31750">
              <a:solidFill>
                <a:srgbClr val="C33B44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150.0</c:v>
                </c:pt>
                <c:pt idx="1">
                  <c:v>165.0</c:v>
                </c:pt>
                <c:pt idx="2">
                  <c:v>150.0</c:v>
                </c:pt>
                <c:pt idx="3">
                  <c:v>140.0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31750">
              <a:solidFill>
                <a:srgbClr val="3169A6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420.0</c:v>
                </c:pt>
                <c:pt idx="1">
                  <c:v>460.0</c:v>
                </c:pt>
                <c:pt idx="2">
                  <c:v>440.0</c:v>
                </c:pt>
                <c:pt idx="3">
                  <c:v>465.0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Customer NPS by region (points)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APAC</c:v>
                </c:pt>
              </c:strCache>
            </c:strRef>
          </c:tx>
          <c:spPr>
            <a:ln w="31750">
              <a:solidFill>
                <a:srgbClr val="008878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58.0</c:v>
                </c:pt>
                <c:pt idx="1">
                  <c:v>60.0</c:v>
                </c:pt>
                <c:pt idx="2">
                  <c:v>61.0</c:v>
                </c:pt>
                <c:pt idx="3">
                  <c:v>62.0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ln w="31750">
              <a:solidFill>
                <a:srgbClr val="BF8500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48.0</c:v>
                </c:pt>
                <c:pt idx="1">
                  <c:v>50.0</c:v>
                </c:pt>
                <c:pt idx="2">
                  <c:v>51.0</c:v>
                </c:pt>
                <c:pt idx="3">
                  <c:v>53.0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31750">
              <a:solidFill>
                <a:srgbClr val="C33B44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38.0</c:v>
                </c:pt>
                <c:pt idx="1">
                  <c:v>35.0</c:v>
                </c:pt>
                <c:pt idx="2">
                  <c:v>32.0</c:v>
                </c:pt>
                <c:pt idx="3">
                  <c:v>29.0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31750">
              <a:solidFill>
                <a:srgbClr val="3169A6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52.0</c:v>
                </c:pt>
                <c:pt idx="1">
                  <c:v>54.0</c:v>
                </c:pt>
                <c:pt idx="2">
                  <c:v>53.0</c:v>
                </c:pt>
                <c:pt idx="3">
                  <c:v>55.0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Stockout rate by region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APAC</c:v>
                </c:pt>
              </c:strCache>
            </c:strRef>
          </c:tx>
          <c:spPr>
            <a:ln w="31750">
              <a:solidFill>
                <a:srgbClr val="008878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</c:v>
                </c:pt>
                <c:pt idx="1">
                  <c:v>7.5</c:v>
                </c:pt>
                <c:pt idx="2">
                  <c:v>8.0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ln w="31750">
              <a:solidFill>
                <a:srgbClr val="BF8500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4.0</c:v>
                </c:pt>
                <c:pt idx="1">
                  <c:v>4.5</c:v>
                </c:pt>
                <c:pt idx="2">
                  <c:v>4.2</c:v>
                </c:pt>
                <c:pt idx="3">
                  <c:v>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31750">
              <a:solidFill>
                <a:srgbClr val="C33B44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9.0</c:v>
                </c:pt>
                <c:pt idx="1">
                  <c:v>10.5</c:v>
                </c:pt>
                <c:pt idx="2">
                  <c:v>11.0</c:v>
                </c:pt>
                <c:pt idx="3">
                  <c:v>12.5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31750">
              <a:solidFill>
                <a:srgbClr val="3169A6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3.5</c:v>
                </c:pt>
                <c:pt idx="1">
                  <c:v>5.0</c:v>
                </c:pt>
                <c:pt idx="2">
                  <c:v>4.0</c:v>
                </c:pt>
                <c:pt idx="3">
                  <c:v>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 i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NovaRetail Achieves Strong Growth Led by APAC Expansion</a:t>
            </a:r>
            <a:endParaRPr lang="en-US" sz="3200" dirty="0" b="1" i="0">
              <a:latin typeface="Cambria"/>
            </a:endParaRPr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500" i="0" dirty="0" b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2026-Q2 | Board Review | Prepared 2026-10-09</a:t>
            </a:r>
            <a:endParaRPr lang="en-US" sz="1500" dirty="0" b="0" i="0">
              <a:latin typeface="Calibri"/>
            </a:endParaRPr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p/>
        </p:txBody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3200" b="1" dirty="0" i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$1,280M</a:t>
            </a:r>
            <a:endParaRPr lang="en-US" sz="3200" dirty="0" b="1" i="0">
              <a:latin typeface="Cambria"/>
            </a:endParaRPr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dirty="0" i="0" b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Latest-quarter revenue (USD M)</a:t>
            </a:r>
            <a:endParaRPr lang="en-US" sz="1100" dirty="0" b="0" i="0">
              <a:latin typeface="Calibri"/>
            </a:endParaRPr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p/>
        </p:txBody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3200" b="1" dirty="0" i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+4.49%</a:t>
            </a:r>
            <a:endParaRPr lang="en-US" sz="3200" dirty="0" b="1" i="0">
              <a:latin typeface="Cambria"/>
            </a:endParaRPr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dirty="0" i="0" b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vs 2026-Q1</a:t>
            </a:r>
            <a:endParaRPr lang="en-US" sz="1100" dirty="0" b="0" i="0">
              <a:latin typeface="Calibri"/>
            </a:endParaRPr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p/>
        </p:txBody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3200" b="1" dirty="0" i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49.75</a:t>
            </a:r>
            <a:endParaRPr lang="en-US" sz="3200" dirty="0" b="1" i="0">
              <a:latin typeface="Cambria"/>
            </a:endParaRPr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100" dirty="0" i="0" b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regional NPS (unweighted)</a:t>
            </a:r>
            <a:endParaRPr lang="en-US" sz="1100" dirty="0" b="0" i="0">
              <a:latin typeface="Calibri"/>
            </a:endParaRPr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800" i="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total revenue reached 1280.0 million USD in 2026-Q2, representing 4.49 percent QoQ growth. Performance was led by APAC, where revenue grew 26.92 percent from 2025-Q3 to 2026-Q2. However, Latin America presents a major risk, with revenue declining by 10.0 million USD alongside deteriorating delivery times and rising fraud.</a:t>
            </a:r>
            <a:endParaRPr lang="en-US" sz="1800" dirty="0" b="0" i="0">
              <a:latin typeface="Calibri"/>
            </a:endParaRPr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| Source: novaretail_dataset.xlsx | 2025-Q3 to 2026-Q2</a:t>
            </a:r>
            <a:endParaRPr lang="en-US" sz="900" dirty="0" b="0" i="0">
              <a:latin typeface="Calibri"/>
            </a:endParaRPr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 b="0" i="0">
              <a:latin typeface="Calibri"/>
            </a:endParaRPr>
          </a:p>
        </p:txBody>
      </p:sp>
      <p:pic>
        <p:nvPicPr>
          <p:cNvPr id="19" name="icon_1" descr="globe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886200"/>
            <a:ext cx="1581912" cy="1581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 and North America Drive Revenue Growth</a:t>
            </a:r>
            <a:endParaRPr lang="en-US" sz="2400" dirty="0" b="1" i="0">
              <a:latin typeface="Cambria"/>
            </a:endParaRPr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revenue grew 26.92 percent from 260.0 million USD to 330.0 million USD, leading all regions.</a:t>
            </a:r>
            <a:endParaRPr lang="en-US" sz="1300" dirty="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remains our largest market, increasing revenue by 45.0 million USD to reach 465.0 million USD.</a:t>
            </a:r>
            <a:endParaRPr sz="13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revenue increased 11.29 percent to 345.0 million USD, with flat marketing spend of 25.0 million USD.</a:t>
            </a:r>
            <a:endParaRPr sz="13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 revenue fell 6.67 percent to 140.0 million USD, with units sold dropping by 40.0K.</a:t>
            </a:r>
            <a:endParaRPr sz="1300" b="0" i="0">
              <a:latin typeface="Calibri"/>
            </a:endParaRPr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| Source: novaretail_dataset.xlsx | 2025-Q3 to 2026-Q2</a:t>
            </a:r>
            <a:endParaRPr lang="en-US" sz="900" dirty="0" b="0" i="0">
              <a:latin typeface="Calibri"/>
            </a:endParaRPr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 b="0" i="0">
              <a:latin typeface="Calibri"/>
            </a:endParaRPr>
          </a:p>
        </p:txBody>
      </p:sp>
      <p:graphicFrame>
        <p:nvGraphicFramePr>
          <p:cNvPr id="10" name="chart_performance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icon_2" descr="growth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516636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 Diverges Across Key Regions</a:t>
            </a:r>
            <a:endParaRPr lang="en-US" sz="2400" dirty="0" b="1" i="0">
              <a:latin typeface="Cambria"/>
            </a:endParaRPr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regional NPS reached 49.75 points, with APAC leading at 62.0 points after a 4.0 point increase.</a:t>
            </a:r>
            <a:endParaRPr lang="en-US" sz="1300" dirty="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NPS improved by 5.0 points to 53.0, supported by delivery times dropping to 3.2 days.</a:t>
            </a:r>
            <a:endParaRPr sz="13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 NPS fell by 9.0 points to 29.0, as CSAT declined from 80.0 percent to 74.0 percent.</a:t>
            </a:r>
            <a:endParaRPr sz="13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in Latin America surged by 11.0K, reflecting growing customer friction.</a:t>
            </a:r>
            <a:endParaRPr sz="1300" b="0" i="0">
              <a:latin typeface="Calibri"/>
            </a:endParaRPr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| Source: novaretail_dataset.xlsx | 2025-Q3 to 2026-Q2</a:t>
            </a:r>
            <a:endParaRPr lang="en-US" sz="900" dirty="0" b="0" i="0">
              <a:latin typeface="Calibri"/>
            </a:endParaRPr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 b="0" i="0">
              <a:latin typeface="Calibri"/>
            </a:endParaRPr>
          </a:p>
        </p:txBody>
      </p:sp>
      <p:graphicFrame>
        <p:nvGraphicFramePr>
          <p:cNvPr id="10" name="chart_customer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icon_3" descr="customer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516636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and Fraud Risks Intensify</a:t>
            </a:r>
            <a:endParaRPr lang="en-US" sz="2400" dirty="0" b="1" i="0">
              <a:latin typeface="Cambria"/>
            </a:endParaRPr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 delivery times rose by 2.0 days to 7.5 days, the slowest across all regions.</a:t>
            </a:r>
            <a:endParaRPr lang="en-US" sz="1300" dirty="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incidents in Latin America increased from 18 to 30, representing a significant security risk.</a:t>
            </a:r>
            <a:endParaRPr sz="13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warehouse capacity utilization reached 92.0 percent, raising stockout rates by 2.5 percentage points to 8.5 percent.</a:t>
            </a:r>
            <a:endParaRPr sz="13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300" i="0" dirty="0" b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processing days in APAC increased by 1.0 day, indicating emerging logistics bottlenecks.</a:t>
            </a:r>
            <a:endParaRPr sz="1300" b="0" i="0">
              <a:latin typeface="Calibri"/>
            </a:endParaRPr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| Source: novaretail_dataset.xlsx | 2025-Q3 to 2026-Q2</a:t>
            </a:r>
            <a:endParaRPr lang="en-US" sz="900" dirty="0" b="0" i="0">
              <a:latin typeface="Calibri"/>
            </a:endParaRPr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 b="0" i="0">
              <a:latin typeface="Calibri"/>
            </a:endParaRPr>
          </a:p>
        </p:txBody>
      </p:sp>
      <p:graphicFrame>
        <p:nvGraphicFramePr>
          <p:cNvPr id="10" name="chart_risk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icon_4" descr="risk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516636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2800" b="1" dirty="0" i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 to Address Operational Risks</a:t>
            </a:r>
            <a:endParaRPr lang="en-US" sz="2800" dirty="0" b="1" i="0">
              <a:latin typeface="Cambria"/>
            </a:endParaRPr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600" i="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r>
              <a:rPr lang="en-US" sz="1600" i="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APAC warehouse capacity to address the 92.0 percent utilization and reduce stockouts.</a:t>
            </a:r>
            <a:endParaRPr lang="en-US" sz="1600" dirty="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600" i="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r>
              <a:rPr lang="en-US" sz="1600" i="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fraud prevention measures in Latin America to combat the rise to 30 incidents.</a:t>
            </a:r>
            <a:endParaRPr sz="16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600" i="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r>
              <a:rPr lang="en-US" sz="1600" i="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Latin America logistics to reverse the 2.0 day increase in average delivery times.</a:t>
            </a:r>
            <a:endParaRPr sz="1600" b="0" i="0">
              <a:latin typeface="Calibri"/>
            </a:endParaRPr>
          </a:p>
          <a:p>
            <a:pPr algn="l" indent="-177800" marL="177800">
              <a:spcAft>
                <a:spcPts val="1000"/>
              </a:spcAft>
              <a:buChar char="•"/>
            </a:pPr>
            <a:r>
              <a:rPr lang="en-US" sz="1600" i="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</a:t>
            </a:r>
            <a:r>
              <a:rPr lang="en-US" sz="1600" i="0" dirty="0" b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APAC return processing to reduce the 1.0 day delay and improve efficiency.</a:t>
            </a:r>
            <a:endParaRPr sz="1600" b="0" i="0">
              <a:latin typeface="Calibri"/>
            </a:endParaRPr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1400" i="0" dirty="0" b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these operational bottlenecks will secure our growth and restore customer satisfaction across all regions.</a:t>
            </a:r>
            <a:endParaRPr lang="en-US" sz="1400" dirty="0" b="0" i="0">
              <a:latin typeface="Calibri"/>
            </a:endParaRPr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| Source: novaretail_dataset.xlsx | 2025-Q3 to 2026-Q2</a:t>
            </a:r>
            <a:endParaRPr lang="en-US" sz="900" dirty="0" b="0" i="0">
              <a:latin typeface="Calibri"/>
            </a:endParaRPr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spcAft>
                <a:spcPts val="0"/>
              </a:spcAft>
              <a:buNone/>
            </a:pPr>
            <a:r>
              <a:rPr lang="en-US" sz="900" dirty="0" i="0" b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 b="0" i="0">
              <a:latin typeface="Calibri"/>
            </a:endParaRPr>
          </a:p>
        </p:txBody>
      </p:sp>
      <p:pic>
        <p:nvPicPr>
          <p:cNvPr id="9" name="icon_5" descr="lightbulb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