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Quarter &amp; review date — e.g. “Q2 2026 — Board Review, July 2026”]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[VALUE]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KPI label — e.g. Total Revenue]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[VALUE]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KPI label — e.g. YoY Revenue Growth]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[VALUE]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KPI label — e.g. Blended Customer NPS]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sentence executive summary — call out overall performance, the standout region, and the single biggest risk to watch this quarter.]</a:t>
            </a:r>
            <a:endParaRPr lang="en-US" sz="1800" dirty="0"/>
          </a:p>
        </p:txBody>
      </p:sp>
      <p:sp>
        <p:nvSpPr>
          <p:cNvPr id="15" name="icon_1"/>
          <p:cNvSpPr/>
          <p:nvPr/>
        </p:nvSpPr>
        <p:spPr>
          <a:xfrm>
            <a:off x="10058400" y="3886200"/>
            <a:ext cx="1581912" cy="1581912"/>
          </a:xfrm>
          <a:prstGeom prst="roundRect">
            <a:avLst>
              <a:gd name="adj" fmla="val 4624"/>
            </a:avLst>
          </a:prstGeom>
          <a:noFill/>
          <a:ln w="22225">
            <a:solidFill>
              <a:srgbClr val="FFFFFF"/>
            </a:solidFill>
            <a:prstDash val="dash"/>
          </a:ln>
        </p:spPr>
      </p:sp>
      <p:sp>
        <p:nvSpPr>
          <p:cNvPr id="16" name="icon_1_label"/>
          <p:cNvSpPr txBox="1"/>
          <p:nvPr/>
        </p:nvSpPr>
        <p:spPr>
          <a:xfrm>
            <a:off x="10195560" y="4050792"/>
            <a:ext cx="13075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represents this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quarter's overall story</a:t>
            </a:r>
            <a:endParaRPr lang="en-US" sz="13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insight-led headline — e.g. “APAC Leads Growth While Latin America Declines”]</a:t>
            </a:r>
            <a:endParaRPr lang="en-US" sz="2400" dirty="0"/>
          </a:p>
        </p:txBody>
      </p:sp>
      <p:sp>
        <p:nvSpPr>
          <p:cNvPr id="3" name="chart_performance"/>
          <p:cNvSpPr/>
          <p:nvPr/>
        </p:nvSpPr>
        <p:spPr>
          <a:xfrm>
            <a:off x="548640" y="1417320"/>
            <a:ext cx="6675120" cy="4800600"/>
          </a:xfrm>
          <a:prstGeom prst="roundRect">
            <a:avLst>
              <a:gd name="adj" fmla="val 1524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4" name="chart_performance_label"/>
          <p:cNvSpPr txBox="1"/>
          <p:nvPr/>
        </p:nvSpPr>
        <p:spPr>
          <a:xfrm>
            <a:off x="685800" y="1581912"/>
            <a:ext cx="6400800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chart 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grouped/stacked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Revenue by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across quarters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(Regional_Performance sheet)</a:t>
            </a:r>
            <a:endParaRPr lang="en-US" sz="13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bullet insights on revenue, units sold, returns rate or marketing spend — call out the strongest and weakest region.]</a:t>
            </a:r>
            <a:endParaRPr lang="en-US" sz="1350" dirty="0"/>
          </a:p>
        </p:txBody>
      </p:sp>
      <p:sp>
        <p:nvSpPr>
          <p:cNvPr id="6" name="icon_2"/>
          <p:cNvSpPr/>
          <p:nvPr/>
        </p:nvSpPr>
        <p:spPr>
          <a:xfrm>
            <a:off x="7543800" y="5166360"/>
            <a:ext cx="1325880" cy="1051560"/>
          </a:xfrm>
          <a:prstGeom prst="roundRect">
            <a:avLst>
              <a:gd name="adj" fmla="val 6957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7" name="icon_2_label"/>
          <p:cNvSpPr txBox="1"/>
          <p:nvPr/>
        </p:nvSpPr>
        <p:spPr>
          <a:xfrm>
            <a:off x="7680960" y="5330952"/>
            <a:ext cx="1051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performance</a:t>
            </a:r>
            <a:endParaRPr lang="en-US" sz="1300" dirty="0"/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insight-led headline — e.g. “Customer Satisfaction Diverges Sharply by Region”]</a:t>
            </a:r>
            <a:endParaRPr lang="en-US" sz="2400" dirty="0"/>
          </a:p>
        </p:txBody>
      </p:sp>
      <p:sp>
        <p:nvSpPr>
          <p:cNvPr id="3" name="chart_customer"/>
          <p:cNvSpPr/>
          <p:nvPr/>
        </p:nvSpPr>
        <p:spPr>
          <a:xfrm>
            <a:off x="548640" y="1417320"/>
            <a:ext cx="6675120" cy="4800600"/>
          </a:xfrm>
          <a:prstGeom prst="roundRect">
            <a:avLst>
              <a:gd name="adj" fmla="val 1524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4" name="chart_customer_label"/>
          <p:cNvSpPr txBox="1"/>
          <p:nvPr/>
        </p:nvSpPr>
        <p:spPr>
          <a:xfrm>
            <a:off x="685800" y="1581912"/>
            <a:ext cx="6400800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chart 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line chart of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(or CSAT) by Region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(Customer_Experience sheet)</a:t>
            </a:r>
            <a:endParaRPr lang="en-US" sz="13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bullet insights on NPS, CSAT, delivery times or support tickets — note which region is improving and which is deteriorating.]</a:t>
            </a:r>
            <a:endParaRPr lang="en-US" sz="1350" dirty="0"/>
          </a:p>
        </p:txBody>
      </p:sp>
      <p:sp>
        <p:nvSpPr>
          <p:cNvPr id="6" name="icon_3"/>
          <p:cNvSpPr/>
          <p:nvPr/>
        </p:nvSpPr>
        <p:spPr>
          <a:xfrm>
            <a:off x="7543800" y="5166360"/>
            <a:ext cx="1325880" cy="1051560"/>
          </a:xfrm>
          <a:prstGeom prst="roundRect">
            <a:avLst>
              <a:gd name="adj" fmla="val 6957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7" name="icon_3_label"/>
          <p:cNvSpPr txBox="1"/>
          <p:nvPr/>
        </p:nvSpPr>
        <p:spPr>
          <a:xfrm>
            <a:off x="7680960" y="5330952"/>
            <a:ext cx="1051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[FILL: insight-led headline — e.g. “Supply Chain Strain Threatens Two Regions”]</a:t>
            </a:r>
            <a:endParaRPr lang="en-US" sz="2400" dirty="0"/>
          </a:p>
        </p:txBody>
      </p:sp>
      <p:sp>
        <p:nvSpPr>
          <p:cNvPr id="3" name="chart_risk"/>
          <p:cNvSpPr/>
          <p:nvPr/>
        </p:nvSpPr>
        <p:spPr>
          <a:xfrm>
            <a:off x="548640" y="1417320"/>
            <a:ext cx="6675120" cy="4800600"/>
          </a:xfrm>
          <a:prstGeom prst="roundRect">
            <a:avLst>
              <a:gd name="adj" fmla="val 1524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4" name="chart_risk_label"/>
          <p:cNvSpPr txBox="1"/>
          <p:nvPr/>
        </p:nvSpPr>
        <p:spPr>
          <a:xfrm>
            <a:off x="685800" y="1581912"/>
            <a:ext cx="6400800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chart 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bar or line chart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Stockout Rate or Fraud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Region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(Operational_Risk sheet)</a:t>
            </a:r>
            <a:endParaRPr lang="en-US" sz="13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bullet insights identifying the top operational risks — e.g. stockouts, warehouse capacity, slow returns, fraud trend.]</a:t>
            </a:r>
            <a:endParaRPr lang="en-US" sz="1350" dirty="0"/>
          </a:p>
        </p:txBody>
      </p:sp>
      <p:sp>
        <p:nvSpPr>
          <p:cNvPr id="6" name="icon_4"/>
          <p:cNvSpPr/>
          <p:nvPr/>
        </p:nvSpPr>
        <p:spPr>
          <a:xfrm>
            <a:off x="7543800" y="5166360"/>
            <a:ext cx="1325880" cy="1051560"/>
          </a:xfrm>
          <a:prstGeom prst="roundRect">
            <a:avLst>
              <a:gd name="adj" fmla="val 6957"/>
            </a:avLst>
          </a:prstGeom>
          <a:noFill/>
          <a:ln w="22225">
            <a:solidFill>
              <a:srgbClr val="1E2761"/>
            </a:solidFill>
            <a:prstDash val="dash"/>
          </a:ln>
        </p:spPr>
      </p:sp>
      <p:sp>
        <p:nvSpPr>
          <p:cNvPr id="7" name="icon_4_label"/>
          <p:cNvSpPr txBox="1"/>
          <p:nvPr/>
        </p:nvSpPr>
        <p:spPr>
          <a:xfrm>
            <a:off x="7680960" y="5330952"/>
            <a:ext cx="1051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alert</a:t>
            </a:r>
            <a:endParaRPr lang="en-US" sz="1300" dirty="0"/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3–4 recommended actions, each tied to a specific insight or risk from the earlier slides. Lead each bullet with a bold action verb — e.g. “Expand APAC warehouse capacity by Q4”.]</a:t>
            </a:r>
            <a:endParaRPr lang="en-US" sz="1600" dirty="0"/>
          </a:p>
        </p:txBody>
      </p:sp>
      <p:sp>
        <p:nvSpPr>
          <p:cNvPr id="4" name="icon_5"/>
          <p:cNvSpPr/>
          <p:nvPr/>
        </p:nvSpPr>
        <p:spPr>
          <a:xfrm>
            <a:off x="7589520" y="1463040"/>
            <a:ext cx="1463040" cy="146304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FFFFFF"/>
            </a:solidFill>
            <a:prstDash val="dash"/>
          </a:ln>
        </p:spPr>
      </p:sp>
      <p:sp>
        <p:nvSpPr>
          <p:cNvPr id="5" name="icon_5_label"/>
          <p:cNvSpPr txBox="1"/>
          <p:nvPr/>
        </p:nvSpPr>
        <p:spPr>
          <a:xfrm>
            <a:off x="7726680" y="1627632"/>
            <a:ext cx="1188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
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icon for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recommendation</a:t>
            </a:r>
            <a:endParaRPr lang="en-US" sz="1300" dirty="0"/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one-line forward-looking statement or call to action for the leadership team.]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